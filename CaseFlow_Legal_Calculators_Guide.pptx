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CASEFLOW LEGAL SUITE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The 8 Statutory Legal Calculators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Automated Judicial Arithmetic, Statutory Precision &amp; 1-Click Court Affidavit Drafts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Exact Statutory Acts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TN Court Fees 2017, Limitation Act 1963, CPC §34, HSA 2005, BNSS §144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3891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Supreme Court Benchmarks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Sarla Verma, Pranay Sethi, Magma Insurance, Rajnesh v. Neha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3891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Defect-Free Court Filings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Zero registry returns, exact certified copy exclusions, 1-click memos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Advocates Need CaseFlow Legal Calculators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Replacing dangerous manual guesswork with courtroom-accurate statutory computation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1. Court Fee Calculator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TN Court Fees Act 1955 (2017 Amend.)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Computes ad-valorem 3%, §37 Partition flat fees (₹5k/₹10k), minimum fees &amp; produces filing memos.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2. Section 5 Delay Calculator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Limitation Act 1963 (§12 &amp; §5)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Deducts Certified Copy time under Sec 12; generates ready-to-print Section 5 Affidavits.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3. Limitation Calculator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Articles 54, 58, 65, NI Act §138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Live countdown to avoid mandatory Section 3 dismissals; month/leap year calendar precision.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4. MACT Claims Calculator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Sarla Verma &amp; Pranay Sethi Benches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5-step formula: income, future prospects (10-50%), dependency deduction, multiplier &amp; consortium.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5. Partition Share Calculator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Hindu Succession 2005 &amp; Muslim Shariat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Daughter coparcenary rights (Vineeta Sharma), widow unit sharing, and Quranic 2:1 residue / Aul.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931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6. Maintenance Calculator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Rajnesh v. Neha &amp; Sec 144 BNSS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Interim (25%) vs Final (30%), wife earning set-off, child support allocation &amp; 50% judicial ceiling.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7. Pre &amp; Post Decree Interest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Section 34 CPC &amp; Order XXI E.P.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Splits pre-suit, pendente lite &amp; 6% post-decree; formats ready prayer clauses for money plaints.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931920"/>
            <a:ext cx="25603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8. Stamp Duty &amp; Registration</a:t>
            </a:r>
          </a:p>
          <a:p>
            <a:pPr>
              <a:spcAft>
                <a:spcPts val="500"/>
              </a:spcAft>
              <a:defRPr sz="900" b="1">
                <a:solidFill>
                  <a:srgbClr val="06B6D4"/>
                </a:solidFill>
              </a:defRPr>
            </a:pPr>
            <a:r>
              <a:t>Indian Stamp Act (14+ States)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Tamil Nadu 7%+1% sale deeds, partition deeds (4%+1%), and state female buyer concessions.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Tamil Nadu Court Fee Calculator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TN Court-Fees and Suits Valuation Act, 1955 (as amended by Act 6 of 2017)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Money &amp; Recovery Suits (Sched. I, Art. 1):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3% of subject matter claim. Statutory minimum court fee of ₹200.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Partition Suits §37(2) (Joint Possession):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Flat ₹5,000 in Sub/District Court; ₹10,000 in High Court Original Side.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Partition Suits §37(1) (Excluded from Possession):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Ad-valorem 3% on plaintiff's share valuation.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Appeals &amp; Misc. Applications: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Appeals from Decree: 3%; CMA Orders: ₹100/₹2,000; IAs: ₹20; Writ: ₹1,000; Vakalat: ₹10.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O.S. FOR PARTITION &amp; SEPARATE POSSESSION (TENKASI)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Nature of Suit: Partition Suit in Sub-Court Tenkasi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Pleading: Plaintiff claims constructive joint possession (§37(2))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Property Value: Total Family Estate: ₹ 80,00,000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COURT FEE: ₹ 5,000  (Fixed under §37(2))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Old Rate (1955 Act): ₹ 750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Statutory Section: §37(2) TN Court Fees Act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Prevents overpaying ad-valorem 3% (₹2.4 Lakhs!) when pleading joint possession.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Section 5 Condonation of Delay Calculator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Limitation Act, 1963 (Section 5 &amp; Section 12 Certified Copy Deduction)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Section 12 Mandatory Deduction: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Time spent between applying for certified copy and copy being made ready MUST be excluded.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Statutory Presets: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30 days (First Appeal, DVC §29, NI Act §138), 60 days (Family Court), 90 days (Second Appeal, Revision).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Section 4 Holiday Rule: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If limitation expires on a court holiday/Sunday, it extends to next working day.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Instant Affidavit Generation: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Drafts the entire sworn affidavit formatted for Indian courts with deponent, facts, and prayer.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CIVIL FIRST APPEAL (A.S.) AGAINST MONEY DECREE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Date of Judgment: 10-01-2026 (Limitation: 30 days)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Copy Applied (CA): 15-01-2026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Copy Made Ready: 05-02-2026 (21 Days in Copy Section)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Actual Filing Date: 10-03-2026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Total Elapsed Days: 59 days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Less Statutory Limitation: 30 days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Less Section 12 Certified Copy: 21 days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NET DELAY TO CONDONE: 8 DAYS (Not 29 Days!)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Affidavit u/s 5 generated with exact 8-day prayer.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Eliminates Registry Return / Defect Memos caused by wrong day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Limitation Period &amp; Expiry Calculator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The Schedule to the Limitation Act, 1963 &amp; Order VII Rule 6 CPC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Section 3 Mandatory Bar: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Court MUST dismiss any suit filed after limitation expires, even if defense does not raise it.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Specific Performance (Art. 54):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3 Years from date fixed for performance or refusal.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Possession on Title (Art. 65):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12 Years against adverse possession.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Special Statutes: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NI Act §138 (30 days); MACT (§166(3) 6 months cap); Consumer Act (2 years).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Smart Calendar Math: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Handles leap years and 28/30/31 day months without calendar overflow bugs.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SPECIFIC PERFORMANCE SUIT (BREACH OF SALE AGREEMENT)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Date of Refusal/Breach: 14-04-2024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Statutory Article: Article 54, Limitation Act 1963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Limitation Window: 3 Years (1095 Days)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Expiry Date: 14-04-2027 (Wednesday)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Status: WITHIN LIMITATION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Days Remaining: 404 Days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Plaint Clause: Auto-generates Order VII Rule 6 limitation paragraph.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Protects advocate from career-ending dismissal under Order VII Rule 11(d) CPC.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MACT Accident Claims Calculator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Sarla Verma (2009) 6 SCC 121 &amp; Pranay Sethi (2017) 16 SCC 680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Sarla Verma Multiplier: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Age-based multiplier scale from 18 down to 5 (Age 31-35: 16; Age 36-40: 15).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Pranay Sethi Future Prospects: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Salaried: &lt;40: 50%, 40-50: 30%, &gt;50: 15% | Self-Employed: &lt;40: 40%, 40-50: 25%, &gt;50: 10%.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Personal Deduction: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Bachelor: 50%; 2-3 dependents: 1/3rd; 4-6 dependents: 1/4th; 6+ dependents: 1/5th.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Conventional Heads: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Loss of Estate (₹15k), Funeral (₹15k), Spousal Consortium (₹40k), Filial Consortium (₹40k).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FATAL ROAD ACCIDENT CLAIM (AGE 32, SELF-EMPLOYED)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Deceased Profile: Age 32, Married with 2 children (3 dependents)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Income: ₹ 25,000 / month (Annual: ₹ 3,00,000)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Medical Bills: ₹ 75,000 actual hospital bills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Annual + 40% Future Prospects: ₹ 4,20,000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Less 1/3 Personal Deduction: ₹ 1,40,000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Net Dependency: ₹ 2,80,000 × Multiplier 16 = ₹ 44,80,000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Conventional Heads (Funeral/Estate/Consortium): ₹ 1,10,000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TOTAL MACT CLAIM: ₹ 46,65,000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Ready-to-file Schedule of Compensation for Lok Adalat / MACT Tribunal.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Partition Share Calculator (Hindu &amp; Muslim)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Hindu Succession Act (Vineeta Sharma) &amp; Muslim Personal Law (Hanafi Shariat)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Hindu Male (§8 Class I):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Sons, Daughters &amp; Mother take equal per-capita shares. Widows collectively share 1 unit.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Vineeta Sharma (2020) 9 SCC 1: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Daughters have equal coparcenary rights by birth regardless of father's death date.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Muslim Law Quranic Sharers: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Wife gets 1/8 (with kids) or 1/4 (no kids); Husband gets 1/4 or 1/2; Mother/Father 1/6.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Residuary (Asaba) 2:1 Rule: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Son takes 2 parts, Daughter takes 1 part. Auto-adjusts for Aul (proportional reduction).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HINDU FAMILY ESTATE PARTITION (FATHER DECEASED INTESTATE)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Net Family Estate: ₹ 60,00,000 (after debt settlement)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Surviving Legal Heirs: Mother, Widow, 2 Sons, 1 Daughter (5 Class I units)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Total Units: 5 Equal Shares (20.00% each)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Mother: 1/5 share = ₹ 12,00,000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Widow: 1/5 share = ₹ 12,00,000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Son 1: 1/5 share = ₹ 12,00,000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Son 2: 1/5 share = ₹ 12,00,000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Daughter: 1/5 share = ₹ 12,00,000 (Vineeta Sharma)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Provides exact fractions for Preliminary Decree Plaint Schedule.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Matrimonial Maintenance Calculator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Rajnesh v. Neha (2021) 1 SCC 55 &amp; Sec 144 BNSS (Formerly Sec 125 CrPC)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Income Benchmarks: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Interim: 25% of husband's net salary; Final/Permanent: 30% of net salary.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Wife Earning Set-Off: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Wife earning does not disqualify her (Shailja v. Mukesh Kumar); CaseFlow offsets 50% equitably.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Child Support Guarantee: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7.5% - 10% per child. Father must pay child support even if wife earns well!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Mandatory 50% Ceiling: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Supreme Court cap: Total maintenance (wife + kids) must not exceed 50% of husband's income.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INTERIM MAINTENANCE PETITION U/S 144 BNSS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Husband Income: ₹ 70,000 gross (Net take-home: ₹ 63,000)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Wife Income: ₹ 15,000 / month (Part-time teacher)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Children: 2 school-going children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Gross Wife Entitlement (25%): ₹ 15,750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Less 50% Wife Income Set-off: -₹ 7,500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Net Wife Maintenance: ₹ 8,250 / month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Children Maintenance (7.5% × 2): ₹ 9,450 / month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TOTAL AWARD: ₹ 17,700 / month (28.1% of net — Well within 50% cap)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Gives Family Court judge a realistic, sustainable order that survives appeal.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CPC Pre &amp; Post Decree Interest Calculator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Section 34 of the Code of Civil Procedure, 1908 &amp; Order XXI Rule 11 CPC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Three Distinct CPC Phases: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Pre-suit (Contractual/Interest Act), Pendente Lite (Court discretion 9-12%), Post-Decree.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Section 34 Statutory Cap: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Post-decree interest is capped at 6% p.a. for non-commercial suits!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Day-Count Exactitude: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Calculates exact elapsed days between dates to avoid round-number disputes.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Plaint Prayer &amp; E.P. Memo: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Formats exact text for Money Plaint prayer and Execution Petition Column 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EXECUTION PETITION (E.P.) FOR REALIZATION OF MONEY DECREE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Decree Principal: ₹ 8,00,000 decreed by Sub-Court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Date of Decree: 15-03-2024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Date of E.P. Filing: 15-09-2026 (914 days elapsed)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Post-Decree Rate: 6.00% p.a. (Statutory limit under §34 CPC)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Interest Computation: (8,00,000 × 6 × 914) ÷ 36,500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Interest Accrued: ₹ 1,20,197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TOTAL RECOVERY AMOUNT: ₹ 9,20,197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E.P. Text: Ready for attachment warrant schedule.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Guarantees the Execution Petition calculation withstands judgment-debtor objections.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CALCULATOR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Stamp Duty &amp; Registration Fee Calculator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Governing Authority: The Indian Stamp Act, 1899 &amp; State Schedules (Tamil Nadu, MH, KA, etc.)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JUDICIAL FRAMEWORK &amp; CALCULATION LOGIC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State-Specific Rates (14+ States):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Tamil Nadu: 7% Stamp Duty + 1% Registration fee on Sale Deeds.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Deed Type Scheduling: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Partition Deeds (TN: 4%+1%), Lease Deeds (&lt;3 yrs vs &gt;3 yrs), Settlement, Gift, Release.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Female Buyer Concessions: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Handles 1-2% state concessions for women buyers (Delhi, UP, Punjab, Rajasthan).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Specific Performance Proof: 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Proves purchaser's financial readiness under Section 16(c) Specific Relief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REAL LITIGATION EXAMPLE: SALE DEED REGISTRATION IN TAMIL NADU (TENKASI SRO)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Case Scenario &amp; Inputs: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Document Type: Sale Deed (Conveyance of Land/Building)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- Guideline/Market Value: ₹ 50,00,000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- Jurisdiction: Sub-Registrar Office, Tenkasi, Tamil Nadu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CaseFlow Automated Output / Memo: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Stamp Duty (7.00%): ₹ 3,50,000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Registration Fee (1.00%): ₹ 50,00,000 × 1% = ₹ 50,000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Surcharge: ₹ 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═══════════════════════════════════════════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TOTAL REGISTRATION OUTLAY: ₹ 4,00,000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Net Funds Required: ₹ 54,00,000</a:t>
            </a:r>
          </a:p>
          <a:p>
            <a:br/>
            <a:pPr>
              <a:defRPr sz="950" b="1">
                <a:solidFill>
                  <a:srgbClr val="F59E0B"/>
                </a:solidFill>
              </a:defRPr>
            </a:pPr>
            <a:r>
              <a:t>Advocate Takeaway: Gives clients instant upfront clarity before visiting the Sub-Registrar Office.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STRATEGIC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CaseFlow Legal Calculators Win Over Advocates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perfect bridge between legal theory and daily chamber productivity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✔  Zero Registry Defects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Junior advocates and clerks no longer suffer returned papers due to erroneous limitation dates, missing Section 12 certified copy deductions, or incorrect partition court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✔  Instant Draft Generation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Rather than just displaying a bare number, CaseFlow outputs complete court affidavits, limitation paragraphs, and execution schedules ready to copy-paste into 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✔  Backed by Supreme Court Precedent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Senior advocates can rely with 100% confidence on formulas hardcoded to Sarla Verma, Pranay Sethi, Rajnesh v. Neha, and Vineeta Sharma without manual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✔  Total Chamber Efficiency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Calculations that take 30 to 45 minutes of manual cross-checking and calculator punching are finalized in 5 seconds on the advocate's mobile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